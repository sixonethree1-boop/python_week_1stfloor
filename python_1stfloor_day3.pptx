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71" r:id="rId2"/>
    <p:sldId id="264" r:id="rId3"/>
    <p:sldId id="270" r:id="rId4"/>
    <p:sldId id="260" r:id="rId5"/>
    <p:sldId id="272" r:id="rId6"/>
    <p:sldId id="276" r:id="rId7"/>
    <p:sldId id="277" r:id="rId8"/>
    <p:sldId id="278" r:id="rId9"/>
  </p:sldIdLst>
  <p:sldSz cx="12192000" cy="6858000"/>
  <p:notesSz cx="6858000" cy="12192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Lato" panose="020F0502020204030203" pitchFamily="34" charset="0"/>
      <p:regular r:id="rId15"/>
      <p:bold r:id="rId16"/>
      <p:italic r:id="rId17"/>
    </p:embeddedFont>
    <p:embeddedFont>
      <p:font typeface="Spectral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1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27" autoAdjust="0"/>
    <p:restoredTop sz="95148" autoAdjust="0"/>
  </p:normalViewPr>
  <p:slideViewPr>
    <p:cSldViewPr snapToGrid="0" snapToObjects="1">
      <p:cViewPr>
        <p:scale>
          <a:sx n="66" d="100"/>
          <a:sy n="66" d="100"/>
        </p:scale>
        <p:origin x="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62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159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958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6602B-CA3D-A94D-F40C-AA6121AAB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1E509-B9AD-5F9A-7017-E1A24EFA2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FE227D-AA9A-86D0-281F-A753F9EAF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47EBE-8FF5-B6E1-E0D3-E05E976CC6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6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1570E-5712-7790-4C14-BA78FBCCE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791C01-E76F-4A77-8CDE-5D0D33E73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2AA296-B8FF-AF61-E779-3026A5263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4EDAD-C313-6205-9C04-92D600B7B3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138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FC0BC-034F-75E5-95CA-BED2B928B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66ED2-6915-BF05-CC95-6BDE7111A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2F8F5-5773-DD1A-9613-BFB61535A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A38C2-9053-DA7B-F851-4AB0BCB96E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06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5F193-4645-12DF-5FF8-FEFD30620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D70C1-10BF-AA7F-52E3-DD2201DF5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D4B3D4-9AF4-A4D5-2ACE-CE129E3BE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4CBDA-0C2A-D9A0-2731-C8AC134571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12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AD4EA-7806-9BBB-CF6F-CCADF1F29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DA8E2-827E-732F-E394-A2221C49C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6FB54-E005-786A-72F7-33E8C51B2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DB9D2-52C0-A8B4-ADD5-A737E5DD74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630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059144-A7BA-BBDB-11D2-0D76DE76A061}"/>
              </a:ext>
            </a:extLst>
          </p:cNvPr>
          <p:cNvSpPr/>
          <p:nvPr userDrawn="1"/>
        </p:nvSpPr>
        <p:spPr>
          <a:xfrm>
            <a:off x="11076875" y="6400799"/>
            <a:ext cx="1115125" cy="46234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77B8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4C1572-FB8E-486D-0A62-16E8B3CB1E5D}"/>
              </a:ext>
            </a:extLst>
          </p:cNvPr>
          <p:cNvSpPr/>
          <p:nvPr userDrawn="1"/>
        </p:nvSpPr>
        <p:spPr>
          <a:xfrm>
            <a:off x="11076875" y="6371924"/>
            <a:ext cx="1115125" cy="46234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F6E702-9B3E-FE9A-F8B2-EA40979BE14C}"/>
              </a:ext>
            </a:extLst>
          </p:cNvPr>
          <p:cNvSpPr/>
          <p:nvPr userDrawn="1"/>
        </p:nvSpPr>
        <p:spPr>
          <a:xfrm>
            <a:off x="11076875" y="6371924"/>
            <a:ext cx="1115125" cy="46234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068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843" y="582613"/>
            <a:ext cx="10810009" cy="5692676"/>
          </a:xfrm>
          <a:prstGeom prst="roundRect">
            <a:avLst>
              <a:gd name="adj" fmla="val 1434"/>
            </a:avLst>
          </a:prstGeom>
          <a:solidFill>
            <a:srgbClr val="111111"/>
          </a:solidFill>
          <a:ln w="25399">
            <a:solidFill>
              <a:srgbClr val="FF4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0508" y="1219299"/>
            <a:ext cx="10370680" cy="115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1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Python Week</a:t>
            </a:r>
            <a:endParaRPr lang="en-US" sz="9100" dirty="0"/>
          </a:p>
        </p:txBody>
      </p:sp>
      <p:sp>
        <p:nvSpPr>
          <p:cNvPr id="4" name="Text 2"/>
          <p:cNvSpPr/>
          <p:nvPr/>
        </p:nvSpPr>
        <p:spPr>
          <a:xfrm>
            <a:off x="910508" y="2490688"/>
            <a:ext cx="8055692" cy="115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sz="2800" dirty="0">
                <a:solidFill>
                  <a:srgbClr val="FF4400"/>
                </a:solidFill>
                <a:latin typeface="Spectral" pitchFamily="34" charset="0"/>
              </a:rPr>
              <a:t>A 5-Day IWC Training on Python Programming, Automation,</a:t>
            </a:r>
          </a:p>
          <a:p>
            <a:pPr>
              <a:lnSpc>
                <a:spcPct val="83000"/>
              </a:lnSpc>
            </a:pPr>
            <a:r>
              <a:rPr lang="en-US" sz="2800" dirty="0">
                <a:solidFill>
                  <a:srgbClr val="FF4400"/>
                </a:solidFill>
                <a:latin typeface="Spectral" pitchFamily="34" charset="0"/>
              </a:rPr>
              <a:t> and Secure Information Processing</a:t>
            </a:r>
            <a:endParaRPr lang="en-US" sz="2800" dirty="0"/>
          </a:p>
          <a:p>
            <a:pPr marL="0" indent="0" algn="l">
              <a:lnSpc>
                <a:spcPct val="83000"/>
              </a:lnSpc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0508" y="3345061"/>
            <a:ext cx="10370680" cy="1961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9000"/>
              </a:lnSpc>
              <a:spcAft>
                <a:spcPts val="900"/>
              </a:spcAft>
              <a:buNone/>
            </a:pPr>
            <a:endParaRPr lang="en-US" sz="1500" dirty="0"/>
          </a:p>
          <a:p>
            <a:pPr marL="0" indent="0" algn="l">
              <a:lnSpc>
                <a:spcPct val="99000"/>
              </a:lnSpc>
              <a:spcAft>
                <a:spcPts val="900"/>
              </a:spcAft>
              <a:buNone/>
            </a:pPr>
            <a:endParaRPr lang="en-US" sz="1500" dirty="0"/>
          </a:p>
          <a:p>
            <a:pPr marL="0" indent="0" algn="l">
              <a:lnSpc>
                <a:spcPct val="99000"/>
              </a:lnSpc>
              <a:spcAft>
                <a:spcPts val="900"/>
              </a:spcAft>
              <a:buNone/>
            </a:pPr>
            <a:endParaRPr lang="en-US" sz="1500" dirty="0"/>
          </a:p>
          <a:p>
            <a:pPr marL="0" indent="0" algn="l">
              <a:lnSpc>
                <a:spcPct val="99000"/>
              </a:lnSpc>
              <a:spcAft>
                <a:spcPts val="900"/>
              </a:spcAft>
              <a:buNone/>
            </a:pPr>
            <a:endParaRPr lang="en-US" sz="1500" dirty="0"/>
          </a:p>
          <a:p>
            <a:pPr marL="0" indent="0" algn="l">
              <a:lnSpc>
                <a:spcPct val="99000"/>
              </a:lnSpc>
              <a:spcAft>
                <a:spcPts val="900"/>
              </a:spcAft>
              <a:buNone/>
            </a:pPr>
            <a:endParaRPr lang="en-US" sz="1500" dirty="0"/>
          </a:p>
        </p:txBody>
      </p:sp>
      <p:pic>
        <p:nvPicPr>
          <p:cNvPr id="9" name="Picture 2" descr="Python Logo, symbol, meaning, history, PNG, brand">
            <a:extLst>
              <a:ext uri="{FF2B5EF4-FFF2-40B4-BE49-F238E27FC236}">
                <a16:creationId xmlns:a16="http://schemas.microsoft.com/office/drawing/2014/main" id="{1F63CE26-03CD-D9E9-587F-9DFF0AECCA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687" r="29687" b="36405"/>
          <a:stretch>
            <a:fillRect/>
          </a:stretch>
        </p:blipFill>
        <p:spPr bwMode="auto">
          <a:xfrm>
            <a:off x="8576968" y="3429000"/>
            <a:ext cx="2704220" cy="2441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87B0B04C-3B92-4110-477F-92FEAFDDABC9}"/>
              </a:ext>
            </a:extLst>
          </p:cNvPr>
          <p:cNvSpPr/>
          <p:nvPr/>
        </p:nvSpPr>
        <p:spPr>
          <a:xfrm>
            <a:off x="910508" y="3923407"/>
            <a:ext cx="8055692" cy="1156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sz="4000" b="1" dirty="0">
                <a:solidFill>
                  <a:srgbClr val="FF4400"/>
                </a:solidFill>
                <a:highlight>
                  <a:srgbClr val="FFFF00"/>
                </a:highlight>
                <a:latin typeface="Spectral" pitchFamily="34" charset="0"/>
              </a:rPr>
              <a:t>Day 3</a:t>
            </a:r>
            <a:endParaRPr lang="en-US" sz="4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22186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232D7-96DE-B439-C09C-C85B2CC17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B0956F-7FCA-DF4F-75EE-EDDCF6BE35AA}"/>
              </a:ext>
            </a:extLst>
          </p:cNvPr>
          <p:cNvSpPr/>
          <p:nvPr/>
        </p:nvSpPr>
        <p:spPr>
          <a:xfrm flipV="1">
            <a:off x="690842" y="226766"/>
            <a:ext cx="11419593" cy="613516"/>
          </a:xfrm>
          <a:prstGeom prst="roundRect">
            <a:avLst>
              <a:gd name="adj" fmla="val 22119"/>
            </a:avLst>
          </a:prstGeom>
          <a:solidFill>
            <a:srgbClr val="4D14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7342A1-CD4E-0999-8AC0-825303D3EDD5}"/>
              </a:ext>
            </a:extLst>
          </p:cNvPr>
          <p:cNvSpPr/>
          <p:nvPr/>
        </p:nvSpPr>
        <p:spPr>
          <a:xfrm>
            <a:off x="890664" y="359867"/>
            <a:ext cx="2082748" cy="163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sz="36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Decision Logic, Loops &amp; Data Structures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AD55302-8D03-0A47-7DDA-AB261E4B463C}"/>
              </a:ext>
            </a:extLst>
          </p:cNvPr>
          <p:cNvSpPr/>
          <p:nvPr/>
        </p:nvSpPr>
        <p:spPr>
          <a:xfrm>
            <a:off x="167553" y="376833"/>
            <a:ext cx="399643" cy="399653"/>
          </a:xfrm>
          <a:prstGeom prst="roundRect">
            <a:avLst>
              <a:gd name="adj" fmla="val 18671"/>
            </a:avLst>
          </a:prstGeom>
          <a:solidFill>
            <a:srgbClr val="FF4400"/>
          </a:solidFill>
          <a:ln w="19050">
            <a:solidFill>
              <a:srgbClr val="FF5D19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D680297-08A1-25EE-63E8-3FD36BE05E8D}"/>
              </a:ext>
            </a:extLst>
          </p:cNvPr>
          <p:cNvSpPr/>
          <p:nvPr/>
        </p:nvSpPr>
        <p:spPr>
          <a:xfrm>
            <a:off x="208777" y="418059"/>
            <a:ext cx="317194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ectral" pitchFamily="34" charset="0"/>
              </a:rPr>
              <a:t>2</a:t>
            </a:r>
            <a:endParaRPr lang="en-US" sz="245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55F8830E-1889-C3CF-5646-DAD136E294A8}"/>
              </a:ext>
            </a:extLst>
          </p:cNvPr>
          <p:cNvSpPr/>
          <p:nvPr/>
        </p:nvSpPr>
        <p:spPr>
          <a:xfrm>
            <a:off x="1105299" y="1674173"/>
            <a:ext cx="4229513" cy="61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83000"/>
              </a:lnSpc>
            </a:pPr>
            <a:r>
              <a:rPr lang="en-US" sz="3200" b="1" dirty="0">
                <a:solidFill>
                  <a:schemeClr val="accent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If, </a:t>
            </a:r>
            <a:r>
              <a:rPr lang="en-US" sz="3200" b="1" dirty="0" err="1">
                <a:solidFill>
                  <a:schemeClr val="accent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elif</a:t>
            </a:r>
            <a:r>
              <a:rPr lang="en-US" sz="3200" b="1" dirty="0">
                <a:solidFill>
                  <a:schemeClr val="accent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, else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A36BA47-372C-DF0D-B1B9-AC62D814A107}"/>
              </a:ext>
            </a:extLst>
          </p:cNvPr>
          <p:cNvSpPr/>
          <p:nvPr/>
        </p:nvSpPr>
        <p:spPr>
          <a:xfrm>
            <a:off x="5334812" y="1670562"/>
            <a:ext cx="9157817" cy="61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83000"/>
              </a:lnSpc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Conditional Statement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3F0553D-6473-5946-4682-EE64390E1BF3}"/>
              </a:ext>
            </a:extLst>
          </p:cNvPr>
          <p:cNvSpPr/>
          <p:nvPr/>
        </p:nvSpPr>
        <p:spPr>
          <a:xfrm>
            <a:off x="1105299" y="2710316"/>
            <a:ext cx="4229513" cy="61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83000"/>
              </a:lnSpc>
            </a:pPr>
            <a:r>
              <a:rPr lang="en-US" sz="3200" b="1" dirty="0">
                <a:solidFill>
                  <a:schemeClr val="accent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True/ False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A49920F-3FD5-188F-12B1-7B9E48777369}"/>
              </a:ext>
            </a:extLst>
          </p:cNvPr>
          <p:cNvSpPr/>
          <p:nvPr/>
        </p:nvSpPr>
        <p:spPr>
          <a:xfrm>
            <a:off x="5334812" y="2706705"/>
            <a:ext cx="9157817" cy="61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83000"/>
              </a:lnSpc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Boolean Expression</a:t>
            </a: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587A7BB-D291-2F5A-B64A-D8C8C75CA6F5}"/>
              </a:ext>
            </a:extLst>
          </p:cNvPr>
          <p:cNvSpPr/>
          <p:nvPr/>
        </p:nvSpPr>
        <p:spPr>
          <a:xfrm>
            <a:off x="1105299" y="3731145"/>
            <a:ext cx="4229513" cy="61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83000"/>
              </a:lnSpc>
            </a:pPr>
            <a:r>
              <a:rPr lang="en-US" sz="3200" b="1" dirty="0">
                <a:solidFill>
                  <a:schemeClr val="accent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==, !=, &lt;=</a:t>
            </a: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9AE06391-3020-1C47-839F-959CA7B27C70}"/>
              </a:ext>
            </a:extLst>
          </p:cNvPr>
          <p:cNvSpPr/>
          <p:nvPr/>
        </p:nvSpPr>
        <p:spPr>
          <a:xfrm>
            <a:off x="5334812" y="3727534"/>
            <a:ext cx="9157817" cy="61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83000"/>
              </a:lnSpc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Conditional/ Comparison Operands</a:t>
            </a: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7735218-D933-944A-DE47-DB2C1D5D58D4}"/>
              </a:ext>
            </a:extLst>
          </p:cNvPr>
          <p:cNvSpPr/>
          <p:nvPr/>
        </p:nvSpPr>
        <p:spPr>
          <a:xfrm>
            <a:off x="1105299" y="4751974"/>
            <a:ext cx="4229513" cy="61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83000"/>
              </a:lnSpc>
            </a:pPr>
            <a:r>
              <a:rPr lang="en-US" sz="3200" b="1" dirty="0">
                <a:solidFill>
                  <a:schemeClr val="accent4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For, in</a:t>
            </a: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414F6F43-0A62-AFE8-79DE-143FFD0073E8}"/>
              </a:ext>
            </a:extLst>
          </p:cNvPr>
          <p:cNvSpPr/>
          <p:nvPr/>
        </p:nvSpPr>
        <p:spPr>
          <a:xfrm>
            <a:off x="5334812" y="4748363"/>
            <a:ext cx="9157817" cy="61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83000"/>
              </a:lnSpc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Loops</a:t>
            </a:r>
          </a:p>
        </p:txBody>
      </p:sp>
    </p:spTree>
    <p:extLst>
      <p:ext uri="{BB962C8B-B14F-4D97-AF65-F5344CB8AC3E}">
        <p14:creationId xmlns:p14="http://schemas.microsoft.com/office/powerpoint/2010/main" val="242598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2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843" y="708620"/>
            <a:ext cx="1686280" cy="269875"/>
          </a:xfrm>
          <a:prstGeom prst="roundRect">
            <a:avLst>
              <a:gd name="adj" fmla="val 22119"/>
            </a:avLst>
          </a:prstGeom>
          <a:solidFill>
            <a:srgbClr val="4D1400"/>
          </a:solidFill>
          <a:ln/>
        </p:spPr>
      </p:sp>
      <p:sp>
        <p:nvSpPr>
          <p:cNvPr id="3" name="Text 1"/>
          <p:cNvSpPr/>
          <p:nvPr/>
        </p:nvSpPr>
        <p:spPr>
          <a:xfrm>
            <a:off x="797401" y="761901"/>
            <a:ext cx="2082748" cy="163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FBFBF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 WEEK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0843" y="1042392"/>
            <a:ext cx="10810009" cy="52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Course Overview</a:t>
            </a:r>
            <a:endParaRPr lang="en-US" sz="4150" dirty="0"/>
          </a:p>
        </p:txBody>
      </p:sp>
      <p:sp>
        <p:nvSpPr>
          <p:cNvPr id="5" name="Text 3"/>
          <p:cNvSpPr/>
          <p:nvPr/>
        </p:nvSpPr>
        <p:spPr>
          <a:xfrm>
            <a:off x="690843" y="1810941"/>
            <a:ext cx="1141959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0843" y="2373213"/>
            <a:ext cx="399643" cy="399653"/>
          </a:xfrm>
          <a:prstGeom prst="roundRect">
            <a:avLst>
              <a:gd name="adj" fmla="val 18671"/>
            </a:avLst>
          </a:prstGeom>
          <a:solidFill>
            <a:srgbClr val="FF4400"/>
          </a:solidFill>
          <a:ln w="19050">
            <a:solidFill>
              <a:srgbClr val="FF5D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2067" y="2414439"/>
            <a:ext cx="317194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1250323" y="2409676"/>
            <a:ext cx="4628836" cy="26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F0000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Python Orientation &amp; Programming Fundamentals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68593" y="3538537"/>
            <a:ext cx="1883125" cy="269875"/>
          </a:xfrm>
          <a:prstGeom prst="roundRect">
            <a:avLst>
              <a:gd name="adj" fmla="val 22119"/>
            </a:avLst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6368593" y="3872309"/>
            <a:ext cx="5088902" cy="951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Consectetur adipiscing elit, sed do eiusmod tempor incididunt ut labore et dolore magna aliqua.</a:t>
            </a:r>
            <a:endParaRPr lang="en-US" sz="245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58D990F8-8438-AE34-89D3-ECD8ACDC1820}"/>
              </a:ext>
            </a:extLst>
          </p:cNvPr>
          <p:cNvSpPr/>
          <p:nvPr/>
        </p:nvSpPr>
        <p:spPr>
          <a:xfrm>
            <a:off x="690843" y="3096170"/>
            <a:ext cx="399643" cy="399653"/>
          </a:xfrm>
          <a:prstGeom prst="roundRect">
            <a:avLst>
              <a:gd name="adj" fmla="val 18671"/>
            </a:avLst>
          </a:prstGeom>
          <a:solidFill>
            <a:srgbClr val="FF4400"/>
          </a:solidFill>
          <a:ln w="19050">
            <a:solidFill>
              <a:srgbClr val="FF5D19"/>
            </a:solidFill>
            <a:prstDash val="solid"/>
          </a:ln>
        </p:spPr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B04D3CE0-D8B9-5C29-4E9E-3B5489BC5547}"/>
              </a:ext>
            </a:extLst>
          </p:cNvPr>
          <p:cNvSpPr/>
          <p:nvPr/>
        </p:nvSpPr>
        <p:spPr>
          <a:xfrm>
            <a:off x="732067" y="3137396"/>
            <a:ext cx="317194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2</a:t>
            </a:r>
            <a:endParaRPr lang="en-US" sz="245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136BBFA2-E6FE-1A17-B722-38C76AA38911}"/>
              </a:ext>
            </a:extLst>
          </p:cNvPr>
          <p:cNvSpPr/>
          <p:nvPr/>
        </p:nvSpPr>
        <p:spPr>
          <a:xfrm>
            <a:off x="1250323" y="3132633"/>
            <a:ext cx="4628836" cy="26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F0000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Decision Logic, Loops &amp; Data Structures</a:t>
            </a:r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A731EE0B-F0EC-6AA0-DB63-9BA0CC9B5A76}"/>
              </a:ext>
            </a:extLst>
          </p:cNvPr>
          <p:cNvSpPr/>
          <p:nvPr/>
        </p:nvSpPr>
        <p:spPr>
          <a:xfrm>
            <a:off x="690843" y="3856979"/>
            <a:ext cx="399643" cy="399653"/>
          </a:xfrm>
          <a:prstGeom prst="roundRect">
            <a:avLst>
              <a:gd name="adj" fmla="val 18671"/>
            </a:avLst>
          </a:prstGeom>
          <a:solidFill>
            <a:srgbClr val="FF4400"/>
          </a:solidFill>
          <a:ln w="19050">
            <a:solidFill>
              <a:srgbClr val="FF5D19"/>
            </a:solidFill>
            <a:prstDash val="solid"/>
          </a:ln>
        </p:spPr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86D6CA42-2ED2-EEFB-B29A-B76023DD1690}"/>
              </a:ext>
            </a:extLst>
          </p:cNvPr>
          <p:cNvSpPr/>
          <p:nvPr/>
        </p:nvSpPr>
        <p:spPr>
          <a:xfrm>
            <a:off x="732067" y="3898205"/>
            <a:ext cx="317194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3</a:t>
            </a:r>
            <a:endParaRPr lang="en-US" sz="245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54592E26-D0B1-BAF6-B0D1-77BF4AF95E5B}"/>
              </a:ext>
            </a:extLst>
          </p:cNvPr>
          <p:cNvSpPr/>
          <p:nvPr/>
        </p:nvSpPr>
        <p:spPr>
          <a:xfrm>
            <a:off x="1250323" y="3893442"/>
            <a:ext cx="4628836" cy="26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Functions, Strings &amp; Character Encoding</a:t>
            </a:r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7DC73F64-2C5E-B57B-6441-4220F8285E0D}"/>
              </a:ext>
            </a:extLst>
          </p:cNvPr>
          <p:cNvSpPr/>
          <p:nvPr/>
        </p:nvSpPr>
        <p:spPr>
          <a:xfrm>
            <a:off x="6368593" y="4655938"/>
            <a:ext cx="5088902" cy="951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Consectetur adipiscing elit, sed do eiusmod tempor incididunt ut labore et dolore magna aliqua.</a:t>
            </a:r>
            <a:endParaRPr lang="en-US" sz="2450" dirty="0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87330629-0FF8-8E52-A4F4-C6AE2A3DD185}"/>
              </a:ext>
            </a:extLst>
          </p:cNvPr>
          <p:cNvSpPr/>
          <p:nvPr/>
        </p:nvSpPr>
        <p:spPr>
          <a:xfrm>
            <a:off x="690843" y="4640608"/>
            <a:ext cx="399643" cy="399653"/>
          </a:xfrm>
          <a:prstGeom prst="roundRect">
            <a:avLst>
              <a:gd name="adj" fmla="val 18671"/>
            </a:avLst>
          </a:prstGeom>
          <a:solidFill>
            <a:srgbClr val="FF4400"/>
          </a:solidFill>
          <a:ln w="19050">
            <a:solidFill>
              <a:srgbClr val="FF5D19"/>
            </a:solidFill>
            <a:prstDash val="solid"/>
          </a:ln>
        </p:spPr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B1659343-CA5D-0805-890A-3D0238423158}"/>
              </a:ext>
            </a:extLst>
          </p:cNvPr>
          <p:cNvSpPr/>
          <p:nvPr/>
        </p:nvSpPr>
        <p:spPr>
          <a:xfrm>
            <a:off x="732067" y="4681834"/>
            <a:ext cx="317194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4</a:t>
            </a:r>
            <a:endParaRPr lang="en-US" sz="2450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D894191D-5451-D40A-2630-6CE79FEBFC41}"/>
              </a:ext>
            </a:extLst>
          </p:cNvPr>
          <p:cNvSpPr/>
          <p:nvPr/>
        </p:nvSpPr>
        <p:spPr>
          <a:xfrm>
            <a:off x="1250323" y="4677071"/>
            <a:ext cx="4628836" cy="26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Encryption / Decryption Logic &amp; Program Integration</a:t>
            </a:r>
            <a:endParaRPr lang="en-US" sz="3200" dirty="0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36040D8B-8A44-D863-CC93-4D09DBFEF49F}"/>
              </a:ext>
            </a:extLst>
          </p:cNvPr>
          <p:cNvSpPr/>
          <p:nvPr/>
        </p:nvSpPr>
        <p:spPr>
          <a:xfrm>
            <a:off x="6368593" y="5471564"/>
            <a:ext cx="5088902" cy="951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Consectetur adipiscing elit, sed do eiusmod tempor incididunt ut labore et dolore magna aliqua.</a:t>
            </a:r>
            <a:endParaRPr lang="en-US" sz="2450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D1825352-5B14-288C-5197-6C785DD58794}"/>
              </a:ext>
            </a:extLst>
          </p:cNvPr>
          <p:cNvSpPr/>
          <p:nvPr/>
        </p:nvSpPr>
        <p:spPr>
          <a:xfrm>
            <a:off x="690843" y="5456234"/>
            <a:ext cx="399643" cy="399653"/>
          </a:xfrm>
          <a:prstGeom prst="roundRect">
            <a:avLst>
              <a:gd name="adj" fmla="val 18671"/>
            </a:avLst>
          </a:prstGeom>
          <a:solidFill>
            <a:srgbClr val="FF4400"/>
          </a:solidFill>
          <a:ln w="19050">
            <a:solidFill>
              <a:srgbClr val="FF5D19"/>
            </a:solidFill>
            <a:prstDash val="solid"/>
          </a:ln>
        </p:spPr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77416CC5-0373-7055-91D8-5FF77C5838F2}"/>
              </a:ext>
            </a:extLst>
          </p:cNvPr>
          <p:cNvSpPr/>
          <p:nvPr/>
        </p:nvSpPr>
        <p:spPr>
          <a:xfrm>
            <a:off x="732067" y="5497460"/>
            <a:ext cx="317194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5</a:t>
            </a:r>
            <a:endParaRPr lang="en-US" sz="245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6B0A2EAF-E70B-C535-7E30-82629C391AFC}"/>
              </a:ext>
            </a:extLst>
          </p:cNvPr>
          <p:cNvSpPr/>
          <p:nvPr/>
        </p:nvSpPr>
        <p:spPr>
          <a:xfrm>
            <a:off x="1250323" y="5492697"/>
            <a:ext cx="4628836" cy="26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Testing, Refinement, Demonstration &amp; Evaluation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02B503A-B375-6C32-19BA-27A0FE34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85BBCB-601A-278F-6BC2-373A2DC928B7}"/>
              </a:ext>
            </a:extLst>
          </p:cNvPr>
          <p:cNvSpPr/>
          <p:nvPr/>
        </p:nvSpPr>
        <p:spPr>
          <a:xfrm flipV="1">
            <a:off x="690842" y="226766"/>
            <a:ext cx="11419593" cy="613516"/>
          </a:xfrm>
          <a:prstGeom prst="roundRect">
            <a:avLst>
              <a:gd name="adj" fmla="val 22119"/>
            </a:avLst>
          </a:prstGeom>
          <a:solidFill>
            <a:srgbClr val="4D14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FF2926-BFEB-2751-A52B-235B74DB3BBD}"/>
              </a:ext>
            </a:extLst>
          </p:cNvPr>
          <p:cNvSpPr/>
          <p:nvPr/>
        </p:nvSpPr>
        <p:spPr>
          <a:xfrm>
            <a:off x="890664" y="359867"/>
            <a:ext cx="2082748" cy="163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sz="36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Functions, Strings &amp; Character Encoding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21B7A8C-C234-A0B1-47F4-2B13F19E6821}"/>
              </a:ext>
            </a:extLst>
          </p:cNvPr>
          <p:cNvSpPr/>
          <p:nvPr/>
        </p:nvSpPr>
        <p:spPr>
          <a:xfrm>
            <a:off x="167553" y="376833"/>
            <a:ext cx="399643" cy="399653"/>
          </a:xfrm>
          <a:prstGeom prst="roundRect">
            <a:avLst>
              <a:gd name="adj" fmla="val 18671"/>
            </a:avLst>
          </a:prstGeom>
          <a:solidFill>
            <a:srgbClr val="FF4400"/>
          </a:solidFill>
          <a:ln w="19050">
            <a:solidFill>
              <a:srgbClr val="FF5D19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5C5A167-FDC5-8330-F41E-2C4AF8E482D7}"/>
              </a:ext>
            </a:extLst>
          </p:cNvPr>
          <p:cNvSpPr/>
          <p:nvPr/>
        </p:nvSpPr>
        <p:spPr>
          <a:xfrm>
            <a:off x="208777" y="418059"/>
            <a:ext cx="317194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ectral" pitchFamily="34" charset="0"/>
              </a:rPr>
              <a:t>3</a:t>
            </a:r>
            <a:endParaRPr lang="en-US" sz="24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15676B-BBAC-5124-53AA-B74CC4E37EB0}"/>
              </a:ext>
            </a:extLst>
          </p:cNvPr>
          <p:cNvSpPr txBox="1"/>
          <p:nvPr/>
        </p:nvSpPr>
        <p:spPr>
          <a:xfrm>
            <a:off x="1017664" y="1589852"/>
            <a:ext cx="7288136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"Enter a word: 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""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letter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letter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"Reversed word:"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3A0F3E71-7844-8E67-5F84-A64AAFCBCF9C}"/>
              </a:ext>
            </a:extLst>
          </p:cNvPr>
          <p:cNvSpPr/>
          <p:nvPr/>
        </p:nvSpPr>
        <p:spPr>
          <a:xfrm>
            <a:off x="1017664" y="1073516"/>
            <a:ext cx="4628836" cy="26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CAT</a:t>
            </a:r>
            <a:endParaRPr lang="en-US" sz="3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0B9AD07C-498D-4BA6-3F2A-37666D4A5B2E}"/>
              </a:ext>
            </a:extLst>
          </p:cNvPr>
          <p:cNvSpPr/>
          <p:nvPr/>
        </p:nvSpPr>
        <p:spPr>
          <a:xfrm>
            <a:off x="658994" y="7191828"/>
            <a:ext cx="611006" cy="44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C</a:t>
            </a:r>
            <a:endParaRPr lang="en-US" sz="32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2183BB8E-AC15-2E1A-8DC9-6AE62AD969C0}"/>
              </a:ext>
            </a:extLst>
          </p:cNvPr>
          <p:cNvSpPr/>
          <p:nvPr/>
        </p:nvSpPr>
        <p:spPr>
          <a:xfrm>
            <a:off x="6260996" y="1310844"/>
            <a:ext cx="2396867" cy="39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RESULT </a:t>
            </a:r>
            <a:r>
              <a:rPr lang="en-US" sz="3200" dirty="0">
                <a:solidFill>
                  <a:schemeClr val="accent4"/>
                </a:solidFill>
                <a:latin typeface="Spectral" pitchFamily="34" charset="0"/>
              </a:rPr>
              <a:t>=</a:t>
            </a: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 </a:t>
            </a:r>
            <a:endParaRPr lang="en-US" sz="32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1C9F141A-9EEE-1328-53A0-F5A82D7664F6}"/>
              </a:ext>
            </a:extLst>
          </p:cNvPr>
          <p:cNvSpPr/>
          <p:nvPr/>
        </p:nvSpPr>
        <p:spPr>
          <a:xfrm>
            <a:off x="8657864" y="1310844"/>
            <a:ext cx="497712" cy="39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C</a:t>
            </a:r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F4C06F-29AA-F4B8-F004-79BEB7E89246}"/>
              </a:ext>
            </a:extLst>
          </p:cNvPr>
          <p:cNvSpPr txBox="1"/>
          <p:nvPr/>
        </p:nvSpPr>
        <p:spPr>
          <a:xfrm>
            <a:off x="9225133" y="1235874"/>
            <a:ext cx="49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  <a:latin typeface="Spectral" pitchFamily="34" charset="0"/>
              </a:rPr>
              <a:t>+</a:t>
            </a:r>
            <a:endParaRPr lang="en-PH" sz="24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ED1B0295-2CCD-1176-1A81-37C12AE2D11E}"/>
              </a:ext>
            </a:extLst>
          </p:cNvPr>
          <p:cNvSpPr/>
          <p:nvPr/>
        </p:nvSpPr>
        <p:spPr>
          <a:xfrm>
            <a:off x="9722845" y="1310844"/>
            <a:ext cx="567270" cy="461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“ ”</a:t>
            </a:r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B53AB3-D457-2187-2C75-17D3C5656A2F}"/>
              </a:ext>
            </a:extLst>
          </p:cNvPr>
          <p:cNvSpPr txBox="1"/>
          <p:nvPr/>
        </p:nvSpPr>
        <p:spPr>
          <a:xfrm>
            <a:off x="7853533" y="1772509"/>
            <a:ext cx="49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  <a:latin typeface="Spectral" pitchFamily="34" charset="0"/>
              </a:rPr>
              <a:t>=</a:t>
            </a:r>
            <a:endParaRPr lang="en-PH" sz="24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748D4BB7-52C7-BEF4-9A9B-6F50B7644C60}"/>
              </a:ext>
            </a:extLst>
          </p:cNvPr>
          <p:cNvSpPr/>
          <p:nvPr/>
        </p:nvSpPr>
        <p:spPr>
          <a:xfrm>
            <a:off x="8657864" y="1883198"/>
            <a:ext cx="497712" cy="39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C</a:t>
            </a:r>
            <a:endParaRPr lang="en-US" sz="32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BA8F6942-F5A4-03B2-25BD-CB88279DE2A4}"/>
              </a:ext>
            </a:extLst>
          </p:cNvPr>
          <p:cNvSpPr/>
          <p:nvPr/>
        </p:nvSpPr>
        <p:spPr>
          <a:xfrm>
            <a:off x="6260996" y="2875653"/>
            <a:ext cx="2396867" cy="39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RESULT </a:t>
            </a:r>
            <a:r>
              <a:rPr lang="en-US" sz="3200" dirty="0">
                <a:solidFill>
                  <a:schemeClr val="accent4"/>
                </a:solidFill>
                <a:latin typeface="Spectral" pitchFamily="34" charset="0"/>
              </a:rPr>
              <a:t>=</a:t>
            </a: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 </a:t>
            </a:r>
            <a:endParaRPr lang="en-US" sz="32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6DF9448A-82FC-8390-68EC-188B129A37A9}"/>
              </a:ext>
            </a:extLst>
          </p:cNvPr>
          <p:cNvSpPr/>
          <p:nvPr/>
        </p:nvSpPr>
        <p:spPr>
          <a:xfrm>
            <a:off x="8657864" y="2858112"/>
            <a:ext cx="497712" cy="39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A</a:t>
            </a:r>
            <a:endParaRPr lang="en-US" sz="3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F5DDCA-46D3-A956-201D-A2B74A91FEF5}"/>
              </a:ext>
            </a:extLst>
          </p:cNvPr>
          <p:cNvSpPr txBox="1"/>
          <p:nvPr/>
        </p:nvSpPr>
        <p:spPr>
          <a:xfrm>
            <a:off x="9225133" y="2804621"/>
            <a:ext cx="49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  <a:latin typeface="Spectral" pitchFamily="34" charset="0"/>
              </a:rPr>
              <a:t>+</a:t>
            </a:r>
            <a:endParaRPr lang="en-PH" sz="24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71A5A52A-C1DF-44AB-D0C4-45D329457DC6}"/>
              </a:ext>
            </a:extLst>
          </p:cNvPr>
          <p:cNvSpPr/>
          <p:nvPr/>
        </p:nvSpPr>
        <p:spPr>
          <a:xfrm>
            <a:off x="9792402" y="2861927"/>
            <a:ext cx="497712" cy="39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C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45414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BF2AA-4297-9ECC-D145-33913092F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00467D0-D90B-224E-4D40-A111C56B5713}"/>
              </a:ext>
            </a:extLst>
          </p:cNvPr>
          <p:cNvSpPr/>
          <p:nvPr/>
        </p:nvSpPr>
        <p:spPr>
          <a:xfrm flipV="1">
            <a:off x="690842" y="226766"/>
            <a:ext cx="11419593" cy="613516"/>
          </a:xfrm>
          <a:prstGeom prst="roundRect">
            <a:avLst>
              <a:gd name="adj" fmla="val 22119"/>
            </a:avLst>
          </a:prstGeom>
          <a:solidFill>
            <a:srgbClr val="4D14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02D8F9-4D86-256D-CD4E-3B4F348B5A35}"/>
              </a:ext>
            </a:extLst>
          </p:cNvPr>
          <p:cNvSpPr/>
          <p:nvPr/>
        </p:nvSpPr>
        <p:spPr>
          <a:xfrm>
            <a:off x="890664" y="359867"/>
            <a:ext cx="2082748" cy="163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sz="36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Functions, Strings &amp; Character Encoding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EB1184E-2B80-E87F-296F-5D4823C77085}"/>
              </a:ext>
            </a:extLst>
          </p:cNvPr>
          <p:cNvSpPr/>
          <p:nvPr/>
        </p:nvSpPr>
        <p:spPr>
          <a:xfrm>
            <a:off x="167553" y="376833"/>
            <a:ext cx="399643" cy="399653"/>
          </a:xfrm>
          <a:prstGeom prst="roundRect">
            <a:avLst>
              <a:gd name="adj" fmla="val 18671"/>
            </a:avLst>
          </a:prstGeom>
          <a:solidFill>
            <a:srgbClr val="FF4400"/>
          </a:solidFill>
          <a:ln w="19050">
            <a:solidFill>
              <a:srgbClr val="FF5D19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5F3DBF8-631B-5AAB-14DC-8F7619A856D0}"/>
              </a:ext>
            </a:extLst>
          </p:cNvPr>
          <p:cNvSpPr/>
          <p:nvPr/>
        </p:nvSpPr>
        <p:spPr>
          <a:xfrm>
            <a:off x="208777" y="418059"/>
            <a:ext cx="317194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ectral" pitchFamily="34" charset="0"/>
              </a:rPr>
              <a:t>3</a:t>
            </a:r>
            <a:endParaRPr lang="en-US" sz="245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3363A0C4-FF40-062A-EA16-7CD104772B8D}"/>
              </a:ext>
            </a:extLst>
          </p:cNvPr>
          <p:cNvSpPr/>
          <p:nvPr/>
        </p:nvSpPr>
        <p:spPr>
          <a:xfrm>
            <a:off x="1017664" y="1073516"/>
            <a:ext cx="4628836" cy="26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CAT</a:t>
            </a:r>
            <a:endParaRPr lang="en-US" sz="3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2EF2000E-9E88-5131-46D6-8E250C4E75DF}"/>
              </a:ext>
            </a:extLst>
          </p:cNvPr>
          <p:cNvSpPr/>
          <p:nvPr/>
        </p:nvSpPr>
        <p:spPr>
          <a:xfrm>
            <a:off x="658994" y="7191828"/>
            <a:ext cx="611006" cy="44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C</a:t>
            </a:r>
            <a:endParaRPr lang="en-US" sz="320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732067C5-876F-F14E-74FE-B795E9087642}"/>
              </a:ext>
            </a:extLst>
          </p:cNvPr>
          <p:cNvSpPr/>
          <p:nvPr/>
        </p:nvSpPr>
        <p:spPr>
          <a:xfrm>
            <a:off x="1193800" y="5784484"/>
            <a:ext cx="4628836" cy="26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TAC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D678DE-633B-D3CE-DEE9-ADD77679C1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1742"/>
          <a:stretch>
            <a:fillRect/>
          </a:stretch>
        </p:blipFill>
        <p:spPr>
          <a:xfrm>
            <a:off x="658994" y="1750972"/>
            <a:ext cx="6657719" cy="354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092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CF84F-0769-A979-5F6A-7C20AAC5B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7F8ED1-76D3-25A4-F829-43F9819D6167}"/>
              </a:ext>
            </a:extLst>
          </p:cNvPr>
          <p:cNvSpPr/>
          <p:nvPr/>
        </p:nvSpPr>
        <p:spPr>
          <a:xfrm flipV="1">
            <a:off x="690842" y="226766"/>
            <a:ext cx="11419593" cy="613516"/>
          </a:xfrm>
          <a:prstGeom prst="roundRect">
            <a:avLst>
              <a:gd name="adj" fmla="val 22119"/>
            </a:avLst>
          </a:prstGeom>
          <a:solidFill>
            <a:srgbClr val="4D14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A7A136-5569-3463-9A89-51F4A382DAFE}"/>
              </a:ext>
            </a:extLst>
          </p:cNvPr>
          <p:cNvSpPr/>
          <p:nvPr/>
        </p:nvSpPr>
        <p:spPr>
          <a:xfrm>
            <a:off x="890664" y="359867"/>
            <a:ext cx="2082748" cy="163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sz="36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ENCRYPTION/ DECRYPTION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A87EDAD-5BD6-D320-3206-AD57F1D190B8}"/>
              </a:ext>
            </a:extLst>
          </p:cNvPr>
          <p:cNvSpPr/>
          <p:nvPr/>
        </p:nvSpPr>
        <p:spPr>
          <a:xfrm>
            <a:off x="167553" y="376833"/>
            <a:ext cx="399643" cy="399653"/>
          </a:xfrm>
          <a:prstGeom prst="roundRect">
            <a:avLst>
              <a:gd name="adj" fmla="val 18671"/>
            </a:avLst>
          </a:prstGeom>
          <a:solidFill>
            <a:srgbClr val="FF4400"/>
          </a:solidFill>
          <a:ln w="19050">
            <a:solidFill>
              <a:srgbClr val="FF5D19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18A6CE3-DBFD-470B-3834-AA692714B813}"/>
              </a:ext>
            </a:extLst>
          </p:cNvPr>
          <p:cNvSpPr/>
          <p:nvPr/>
        </p:nvSpPr>
        <p:spPr>
          <a:xfrm>
            <a:off x="208777" y="418059"/>
            <a:ext cx="317194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ectral" pitchFamily="34" charset="0"/>
              </a:rPr>
              <a:t>3</a:t>
            </a:r>
            <a:endParaRPr lang="en-US" sz="245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35EDAAB0-B058-96EA-3D56-F6752DE40F54}"/>
              </a:ext>
            </a:extLst>
          </p:cNvPr>
          <p:cNvSpPr/>
          <p:nvPr/>
        </p:nvSpPr>
        <p:spPr>
          <a:xfrm>
            <a:off x="658994" y="3619428"/>
            <a:ext cx="4628836" cy="26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b="1" dirty="0">
                <a:solidFill>
                  <a:schemeClr val="accent4"/>
                </a:solidFill>
                <a:latin typeface="Spectral" pitchFamily="34" charset="0"/>
              </a:rPr>
              <a:t>PLAINTEXT</a:t>
            </a:r>
            <a:endParaRPr lang="en-US" sz="3600" b="1" dirty="0">
              <a:solidFill>
                <a:schemeClr val="accent4"/>
              </a:solidFill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28CF8992-0BFC-E4F0-A5C6-51D2C45E8A44}"/>
              </a:ext>
            </a:extLst>
          </p:cNvPr>
          <p:cNvSpPr/>
          <p:nvPr/>
        </p:nvSpPr>
        <p:spPr>
          <a:xfrm>
            <a:off x="658994" y="7191828"/>
            <a:ext cx="611006" cy="44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C</a:t>
            </a:r>
            <a:endParaRPr lang="en-US" sz="320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3EC00E9F-3B47-D116-B21B-61B299AF2B52}"/>
              </a:ext>
            </a:extLst>
          </p:cNvPr>
          <p:cNvSpPr/>
          <p:nvPr/>
        </p:nvSpPr>
        <p:spPr>
          <a:xfrm>
            <a:off x="8450140" y="3619428"/>
            <a:ext cx="4628836" cy="26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b="1" dirty="0">
                <a:solidFill>
                  <a:schemeClr val="accent4"/>
                </a:solidFill>
                <a:latin typeface="Spectral" pitchFamily="34" charset="0"/>
              </a:rPr>
              <a:t>CIPHERTEXT</a:t>
            </a:r>
            <a:endParaRPr lang="en-US" sz="3600" b="1" dirty="0">
              <a:solidFill>
                <a:schemeClr val="accent4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7ADB8B1-480A-8459-FAE5-439639CCDA86}"/>
              </a:ext>
            </a:extLst>
          </p:cNvPr>
          <p:cNvSpPr/>
          <p:nvPr/>
        </p:nvSpPr>
        <p:spPr>
          <a:xfrm>
            <a:off x="1035354" y="2272386"/>
            <a:ext cx="4628836" cy="26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ATTACK</a:t>
            </a:r>
            <a:endParaRPr lang="en-US" sz="3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CC8AD74-0BCD-EB4D-D77F-D96D838D9969}"/>
              </a:ext>
            </a:extLst>
          </p:cNvPr>
          <p:cNvSpPr/>
          <p:nvPr/>
        </p:nvSpPr>
        <p:spPr>
          <a:xfrm>
            <a:off x="8450140" y="2272386"/>
            <a:ext cx="4628836" cy="26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DWDFN</a:t>
            </a:r>
            <a:endParaRPr lang="en-US" sz="3200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193BBA0-6ED5-C59B-1E14-FB3748E9B82C}"/>
              </a:ext>
            </a:extLst>
          </p:cNvPr>
          <p:cNvSpPr/>
          <p:nvPr/>
        </p:nvSpPr>
        <p:spPr>
          <a:xfrm>
            <a:off x="4178300" y="1825586"/>
            <a:ext cx="3187700" cy="1422436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400" dirty="0">
                <a:latin typeface="Spectral" panose="020B0604020202020204" charset="0"/>
                <a:cs typeface="Arial" panose="020B0604020202020204" pitchFamily="34" charset="0"/>
              </a:rPr>
              <a:t>ENCRYPTION</a:t>
            </a: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E88E529C-ADF3-F599-A464-16B895B7DEAC}"/>
              </a:ext>
            </a:extLst>
          </p:cNvPr>
          <p:cNvSpPr/>
          <p:nvPr/>
        </p:nvSpPr>
        <p:spPr>
          <a:xfrm>
            <a:off x="4178300" y="3883846"/>
            <a:ext cx="3187700" cy="1422436"/>
          </a:xfrm>
          <a:prstGeom prst="lef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400" dirty="0">
                <a:latin typeface="Spectral" panose="020B0604020202020204" charset="0"/>
                <a:cs typeface="Arial" panose="020B0604020202020204" pitchFamily="34" charset="0"/>
              </a:rPr>
              <a:t>DECRYPTION</a:t>
            </a:r>
          </a:p>
        </p:txBody>
      </p:sp>
    </p:spTree>
    <p:extLst>
      <p:ext uri="{BB962C8B-B14F-4D97-AF65-F5344CB8AC3E}">
        <p14:creationId xmlns:p14="http://schemas.microsoft.com/office/powerpoint/2010/main" val="90459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4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DDDC4-4A73-7E40-0F70-F3104642F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5A2FD6E-826E-58AE-4A92-87230C847060}"/>
              </a:ext>
            </a:extLst>
          </p:cNvPr>
          <p:cNvSpPr/>
          <p:nvPr/>
        </p:nvSpPr>
        <p:spPr>
          <a:xfrm flipV="1">
            <a:off x="690842" y="226766"/>
            <a:ext cx="11419593" cy="613516"/>
          </a:xfrm>
          <a:prstGeom prst="roundRect">
            <a:avLst>
              <a:gd name="adj" fmla="val 22119"/>
            </a:avLst>
          </a:prstGeom>
          <a:solidFill>
            <a:srgbClr val="4D14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4DD1F7-047B-8EF2-6D3D-8CD3EF898A65}"/>
              </a:ext>
            </a:extLst>
          </p:cNvPr>
          <p:cNvSpPr/>
          <p:nvPr/>
        </p:nvSpPr>
        <p:spPr>
          <a:xfrm>
            <a:off x="890664" y="359867"/>
            <a:ext cx="2082748" cy="163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sz="3600" dirty="0">
                <a:solidFill>
                  <a:srgbClr val="FBFBF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ENCRYPTION/ DECRYPTION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40D8474-942E-1279-BF2B-EE02FA686121}"/>
              </a:ext>
            </a:extLst>
          </p:cNvPr>
          <p:cNvSpPr/>
          <p:nvPr/>
        </p:nvSpPr>
        <p:spPr>
          <a:xfrm>
            <a:off x="167553" y="376833"/>
            <a:ext cx="399643" cy="399653"/>
          </a:xfrm>
          <a:prstGeom prst="roundRect">
            <a:avLst>
              <a:gd name="adj" fmla="val 18671"/>
            </a:avLst>
          </a:prstGeom>
          <a:solidFill>
            <a:srgbClr val="FF4400"/>
          </a:solidFill>
          <a:ln w="19050">
            <a:solidFill>
              <a:srgbClr val="FF5D19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043DF06-4BCB-1A43-4DC9-6AA0D1DF59DF}"/>
              </a:ext>
            </a:extLst>
          </p:cNvPr>
          <p:cNvSpPr/>
          <p:nvPr/>
        </p:nvSpPr>
        <p:spPr>
          <a:xfrm>
            <a:off x="208777" y="418059"/>
            <a:ext cx="317194" cy="317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ectral" pitchFamily="34" charset="0"/>
              </a:rPr>
              <a:t>3</a:t>
            </a:r>
            <a:endParaRPr lang="en-US" sz="245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9178E05F-F6A8-BB53-9E64-4DFB5A21C95B}"/>
              </a:ext>
            </a:extLst>
          </p:cNvPr>
          <p:cNvSpPr/>
          <p:nvPr/>
        </p:nvSpPr>
        <p:spPr>
          <a:xfrm>
            <a:off x="658994" y="5956228"/>
            <a:ext cx="4628836" cy="26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b="1" dirty="0">
                <a:solidFill>
                  <a:schemeClr val="accent4"/>
                </a:solidFill>
                <a:latin typeface="Spectral" pitchFamily="34" charset="0"/>
              </a:rPr>
              <a:t>PLAINTEXT</a:t>
            </a:r>
            <a:endParaRPr lang="en-US" sz="3600" b="1" dirty="0">
              <a:solidFill>
                <a:schemeClr val="accent4"/>
              </a:solidFill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6196ED73-0ADC-3946-F7F1-2E111BB7D360}"/>
              </a:ext>
            </a:extLst>
          </p:cNvPr>
          <p:cNvSpPr/>
          <p:nvPr/>
        </p:nvSpPr>
        <p:spPr>
          <a:xfrm>
            <a:off x="658994" y="7191828"/>
            <a:ext cx="611006" cy="44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C</a:t>
            </a:r>
            <a:endParaRPr lang="en-US" sz="320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44083F2E-4219-C72E-E84A-01F33F96C889}"/>
              </a:ext>
            </a:extLst>
          </p:cNvPr>
          <p:cNvSpPr/>
          <p:nvPr/>
        </p:nvSpPr>
        <p:spPr>
          <a:xfrm>
            <a:off x="8450140" y="5956228"/>
            <a:ext cx="4628836" cy="264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b="1" dirty="0">
                <a:solidFill>
                  <a:schemeClr val="accent4"/>
                </a:solidFill>
                <a:latin typeface="Spectral" pitchFamily="34" charset="0"/>
              </a:rPr>
              <a:t>CIPHERTEXT</a:t>
            </a:r>
            <a:endParaRPr lang="en-US" sz="3600" b="1" dirty="0">
              <a:solidFill>
                <a:schemeClr val="accent4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AA121A8-6830-DB9D-63D2-9D5B2B576606}"/>
              </a:ext>
            </a:extLst>
          </p:cNvPr>
          <p:cNvSpPr/>
          <p:nvPr/>
        </p:nvSpPr>
        <p:spPr>
          <a:xfrm>
            <a:off x="658994" y="2272386"/>
            <a:ext cx="4628836" cy="163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ATTACK</a:t>
            </a:r>
          </a:p>
          <a:p>
            <a:pPr>
              <a:lnSpc>
                <a:spcPct val="83000"/>
              </a:lnSpc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MEET AT 0600</a:t>
            </a:r>
          </a:p>
          <a:p>
            <a:pPr>
              <a:lnSpc>
                <a:spcPct val="83000"/>
              </a:lnSpc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MOVE TO CHECKPOINT</a:t>
            </a:r>
            <a:endParaRPr lang="en-US" sz="3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6A560271-736B-B7B4-6233-67696CCA2859}"/>
              </a:ext>
            </a:extLst>
          </p:cNvPr>
          <p:cNvSpPr/>
          <p:nvPr/>
        </p:nvSpPr>
        <p:spPr>
          <a:xfrm>
            <a:off x="6805794" y="2272386"/>
            <a:ext cx="4628836" cy="163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3000"/>
              </a:lnSpc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DWWDFN</a:t>
            </a:r>
          </a:p>
          <a:p>
            <a:pPr>
              <a:lnSpc>
                <a:spcPct val="83000"/>
              </a:lnSpc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PHHW DW 0600</a:t>
            </a:r>
          </a:p>
          <a:p>
            <a:pPr>
              <a:lnSpc>
                <a:spcPct val="83000"/>
              </a:lnSpc>
            </a:pPr>
            <a:r>
              <a:rPr lang="en-US" sz="3200" dirty="0">
                <a:solidFill>
                  <a:srgbClr val="FBFBFB"/>
                </a:solidFill>
                <a:latin typeface="Spectral" pitchFamily="34" charset="0"/>
              </a:rPr>
              <a:t>PRYH WR FKHFNSRLQW</a:t>
            </a:r>
            <a:endParaRPr lang="en-US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440E44-FFDB-24A4-C028-536B3F5C5D55}"/>
              </a:ext>
            </a:extLst>
          </p:cNvPr>
          <p:cNvSpPr txBox="1"/>
          <p:nvPr/>
        </p:nvSpPr>
        <p:spPr>
          <a:xfrm>
            <a:off x="1708150" y="4389597"/>
            <a:ext cx="93027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dirty="0">
                <a:solidFill>
                  <a:schemeClr val="bg1"/>
                </a:solidFill>
                <a:latin typeface="Spectral" panose="020B0604020202020204" charset="0"/>
              </a:rPr>
              <a:t>PLAIN:   ABCDEFGHIJKLMNOPQRSTUVWXYZ</a:t>
            </a:r>
          </a:p>
          <a:p>
            <a:r>
              <a:rPr lang="en-PH" sz="2800" dirty="0">
                <a:solidFill>
                  <a:schemeClr val="bg1"/>
                </a:solidFill>
                <a:latin typeface="Spectral" panose="020B0604020202020204" charset="0"/>
              </a:rPr>
              <a:t>CIPHER: DEFGHIJKLMNOPQRSTUVWXYZABC</a:t>
            </a:r>
          </a:p>
        </p:txBody>
      </p:sp>
    </p:spTree>
    <p:extLst>
      <p:ext uri="{BB962C8B-B14F-4D97-AF65-F5344CB8AC3E}">
        <p14:creationId xmlns:p14="http://schemas.microsoft.com/office/powerpoint/2010/main" val="1678753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3128</TotalTime>
  <Words>249</Words>
  <Application>Microsoft Office PowerPoint</Application>
  <PresentationFormat>Widescreen</PresentationFormat>
  <Paragraphs>88</Paragraphs>
  <Slides>8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Lato</vt:lpstr>
      <vt:lpstr>Spectral</vt:lpstr>
      <vt:lpstr>Consolas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MAZDA 19</dc:creator>
  <cp:lastModifiedBy>MAZDA 19</cp:lastModifiedBy>
  <cp:revision>12</cp:revision>
  <dcterms:created xsi:type="dcterms:W3CDTF">2026-07-25T02:33:45Z</dcterms:created>
  <dcterms:modified xsi:type="dcterms:W3CDTF">2026-07-29T23:03:01Z</dcterms:modified>
</cp:coreProperties>
</file>