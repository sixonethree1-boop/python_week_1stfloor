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64" r:id="rId3"/>
    <p:sldId id="266" r:id="rId4"/>
    <p:sldId id="267" r:id="rId5"/>
    <p:sldId id="268" r:id="rId6"/>
    <p:sldId id="260" r:id="rId7"/>
    <p:sldId id="269" r:id="rId8"/>
    <p:sldId id="270" r:id="rId9"/>
  </p:sldIdLst>
  <p:sldSz cx="12192000" cy="6858000"/>
  <p:notesSz cx="6858000" cy="12192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Spectral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7" autoAdjust="0"/>
    <p:restoredTop sz="95148" autoAdjust="0"/>
  </p:normalViewPr>
  <p:slideViewPr>
    <p:cSldViewPr snapToGrid="0" snapToObjects="1">
      <p:cViewPr>
        <p:scale>
          <a:sx n="125" d="100"/>
          <a:sy n="125" d="100"/>
        </p:scale>
        <p:origin x="3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2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15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58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C856-3184-E425-35D2-7F83E1EF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C0B5D-709D-21A3-06DC-8F23CBB66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F51B3-6B43-5BDE-5323-73AA738D1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B72B9-C128-8EBE-50C4-84BCFFFE4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94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1972-56F7-F270-7D75-118D31223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6BB4D-ADA1-EF63-ACC0-C8B391402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D0CA4-C23C-8E70-6BAA-70E322143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2FEEB-D854-623A-F69A-90077FA45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80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7FD3-F076-DCEA-1DFC-FFBDF007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61559-9DE2-629D-282E-021C7755E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F66D1-F582-0923-0E1C-02DE9E0FF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49F23-377A-B054-5450-63014CF4F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7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46C5-4B9F-3095-9D9C-9B273490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40469-DB63-E5BC-19CB-E1B2F0497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F2C4-0EF9-467C-F5AD-05542C23A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66A57-F5E3-4C1A-BD86-3E9DFF739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602B-CA3D-A94D-F40C-AA6121AA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E509-B9AD-5F9A-7017-E1A24EFA2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E227D-AA9A-86D0-281F-A753F9EA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7EBE-8FF5-B6E1-E0D3-E05E976CC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59144-A7BA-BBDB-11D2-0D76DE76A061}"/>
              </a:ext>
            </a:extLst>
          </p:cNvPr>
          <p:cNvSpPr/>
          <p:nvPr userDrawn="1"/>
        </p:nvSpPr>
        <p:spPr>
          <a:xfrm>
            <a:off x="11076875" y="6400799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77B8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4C1572-FB8E-486D-0A62-16E8B3CB1E5D}"/>
              </a:ext>
            </a:extLst>
          </p:cNvPr>
          <p:cNvSpPr/>
          <p:nvPr userDrawn="1"/>
        </p:nvSpPr>
        <p:spPr>
          <a:xfrm>
            <a:off x="11076875" y="6371924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F6E702-9B3E-FE9A-F8B2-EA40979BE14C}"/>
              </a:ext>
            </a:extLst>
          </p:cNvPr>
          <p:cNvSpPr/>
          <p:nvPr userDrawn="1"/>
        </p:nvSpPr>
        <p:spPr>
          <a:xfrm>
            <a:off x="11076875" y="6371924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06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43" y="582613"/>
            <a:ext cx="10810009" cy="5692676"/>
          </a:xfrm>
          <a:prstGeom prst="roundRect">
            <a:avLst>
              <a:gd name="adj" fmla="val 1434"/>
            </a:avLst>
          </a:prstGeom>
          <a:solidFill>
            <a:srgbClr val="111111"/>
          </a:solidFill>
          <a:ln w="25399">
            <a:solidFill>
              <a:srgbClr val="FF4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0508" y="1219299"/>
            <a:ext cx="10370680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1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Week</a:t>
            </a:r>
            <a:endParaRPr lang="en-US" sz="9100" dirty="0"/>
          </a:p>
        </p:txBody>
      </p:sp>
      <p:sp>
        <p:nvSpPr>
          <p:cNvPr id="4" name="Text 2"/>
          <p:cNvSpPr/>
          <p:nvPr/>
        </p:nvSpPr>
        <p:spPr>
          <a:xfrm>
            <a:off x="910508" y="2490688"/>
            <a:ext cx="8055692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2800" dirty="0">
                <a:solidFill>
                  <a:srgbClr val="FF4400"/>
                </a:solidFill>
                <a:latin typeface="Spectral" pitchFamily="34" charset="0"/>
              </a:rPr>
              <a:t>A 5-Day IWC Training on Python Programming, Automation,</a:t>
            </a:r>
          </a:p>
          <a:p>
            <a:pPr>
              <a:lnSpc>
                <a:spcPct val="83000"/>
              </a:lnSpc>
            </a:pPr>
            <a:r>
              <a:rPr lang="en-US" sz="2800" dirty="0">
                <a:solidFill>
                  <a:srgbClr val="FF4400"/>
                </a:solidFill>
                <a:latin typeface="Spectral" pitchFamily="34" charset="0"/>
              </a:rPr>
              <a:t> and Secure Information Processing</a:t>
            </a:r>
            <a:endParaRPr lang="en-US" sz="2800" dirty="0"/>
          </a:p>
          <a:p>
            <a:pPr marL="0" indent="0" algn="l">
              <a:lnSpc>
                <a:spcPct val="83000"/>
              </a:lnSpc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0508" y="3345061"/>
            <a:ext cx="10370680" cy="196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</p:txBody>
      </p:sp>
      <p:pic>
        <p:nvPicPr>
          <p:cNvPr id="9" name="Picture 2" descr="Python Logo, symbol, meaning, history, PNG, brand">
            <a:extLst>
              <a:ext uri="{FF2B5EF4-FFF2-40B4-BE49-F238E27FC236}">
                <a16:creationId xmlns:a16="http://schemas.microsoft.com/office/drawing/2014/main" id="{1F63CE26-03CD-D9E9-587F-9DFF0AECC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687" r="29687" b="36405"/>
          <a:stretch>
            <a:fillRect/>
          </a:stretch>
        </p:blipFill>
        <p:spPr bwMode="auto">
          <a:xfrm>
            <a:off x="8576968" y="3429000"/>
            <a:ext cx="2704220" cy="244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87B0B04C-3B92-4110-477F-92FEAFDDABC9}"/>
              </a:ext>
            </a:extLst>
          </p:cNvPr>
          <p:cNvSpPr/>
          <p:nvPr/>
        </p:nvSpPr>
        <p:spPr>
          <a:xfrm>
            <a:off x="910508" y="3923407"/>
            <a:ext cx="8055692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4000" b="1" dirty="0">
                <a:solidFill>
                  <a:srgbClr val="FF4400"/>
                </a:solidFill>
                <a:highlight>
                  <a:srgbClr val="FFFF00"/>
                </a:highlight>
                <a:latin typeface="Spectral" pitchFamily="34" charset="0"/>
              </a:rPr>
              <a:t>Day 2</a:t>
            </a:r>
            <a:endParaRPr lang="en-US" sz="4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218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0D80-2ED6-7055-087D-CD1C8C50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7803FA-CA57-D775-2DD5-258E0618ACE1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CAD298-759D-5B02-873C-933AA2EE9E85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Orientation &amp; Programming Fundamentals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1E861EC-3EFC-7703-EBF6-5D3700B87675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8EDA04-F3B5-04D7-87AA-89F9AE6F2D1C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1</a:t>
            </a:r>
            <a:endParaRPr lang="en-US" sz="2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75CC01-321E-A1AD-740A-C0F337655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9" b="98223" l="8889" r="99596">
                        <a14:foregroundMark x1="42049" y1="4135" x2="52121" y2="5493"/>
                        <a14:foregroundMark x1="34141" y1="3069" x2="35513" y2="3254"/>
                        <a14:foregroundMark x1="52121" y1="5493" x2="63137" y2="4216"/>
                        <a14:foregroundMark x1="86061" y1="30372" x2="88687" y2="42326"/>
                        <a14:foregroundMark x1="34545" y1="84330" x2="23030" y2="90307"/>
                        <a14:foregroundMark x1="23030" y1="90307" x2="36768" y2="95638"/>
                        <a14:foregroundMark x1="36768" y1="95638" x2="82828" y2="94023"/>
                        <a14:foregroundMark x1="82828" y1="94023" x2="86061" y2="94184"/>
                        <a14:foregroundMark x1="93131" y1="98546" x2="82828" y2="83360"/>
                        <a14:foregroundMark x1="8889" y1="95961" x2="23232" y2="95638"/>
                        <a14:foregroundMark x1="99596" y1="98223" x2="94141" y2="87237"/>
                        <a14:foregroundMark x1="68081" y1="808" x2="31919" y2="1131"/>
                        <a14:foregroundMark x1="31919" y1="1131" x2="45253" y2="1454"/>
                        <a14:foregroundMark x1="45253" y1="1454" x2="51515" y2="969"/>
                        <a14:foregroundMark x1="42828" y1="1777" x2="24848" y2="5008"/>
                        <a14:foregroundMark x1="24848" y1="5008" x2="21818" y2="7593"/>
                        <a14:foregroundMark x1="70707" y1="1777" x2="83838" y2="8724"/>
                        <a14:foregroundMark x1="83838" y1="8724" x2="88081" y2="14863"/>
                        <a14:foregroundMark x1="86667" y1="15509" x2="90707" y2="28271"/>
                        <a14:foregroundMark x1="10909" y1="24233" x2="12323" y2="15024"/>
                        <a14:foregroundMark x1="16162" y1="12278" x2="22626" y2="6462"/>
                        <a14:foregroundMark x1="10909" y1="24071" x2="11717" y2="52019"/>
                        <a14:foregroundMark x1="12525" y1="57189" x2="20000" y2="69790"/>
                        <a14:foregroundMark x1="20000" y1="69790" x2="20606" y2="70275"/>
                      </a14:backgroundRemoval>
                    </a14:imgEffect>
                  </a14:imgLayer>
                </a14:imgProps>
              </a:ext>
            </a:extLst>
          </a:blip>
          <a:srcRect t="1703"/>
          <a:stretch>
            <a:fillRect/>
          </a:stretch>
        </p:blipFill>
        <p:spPr>
          <a:xfrm>
            <a:off x="-241140" y="973383"/>
            <a:ext cx="4880610" cy="599928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9" name="what- d">
            <a:extLst>
              <a:ext uri="{FF2B5EF4-FFF2-40B4-BE49-F238E27FC236}">
                <a16:creationId xmlns:a16="http://schemas.microsoft.com/office/drawing/2014/main" id="{1630E079-F4F7-2677-83C0-53146DF8C823}"/>
              </a:ext>
            </a:extLst>
          </p:cNvPr>
          <p:cNvSpPr/>
          <p:nvPr/>
        </p:nvSpPr>
        <p:spPr>
          <a:xfrm rot="10800000" flipV="1">
            <a:off x="4423140" y="1209635"/>
            <a:ext cx="3094897" cy="552677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>
            <a:solidFill>
              <a:srgbClr val="4D1400"/>
            </a:solidFill>
          </a:ln>
        </p:spPr>
        <p:txBody>
          <a:bodyPr anchor="ctr"/>
          <a:lstStyle/>
          <a:p>
            <a:r>
              <a:rPr lang="en-US" sz="23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is a highly readable, general-purpose programming language created in the Netherlands by Dutch programmer Guido van Rossum between 1989 and 1991 to combine simplicity with powerful software development capabilities.</a:t>
            </a:r>
            <a:endParaRPr lang="en-US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3F033-D324-287D-2021-AB7860CDE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0919" t="11166" r="51311" b="7796"/>
          <a:stretch>
            <a:fillRect/>
          </a:stretch>
        </p:blipFill>
        <p:spPr>
          <a:xfrm>
            <a:off x="7898861" y="1209636"/>
            <a:ext cx="4293140" cy="55267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1354-B109-A68B-BFAF-FE24B965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E8E54F-2FAD-6F24-D867-5F7BCFC3C071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A24F80-95EB-AC1A-7530-D555C3730910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Recap from day one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D0F7BF-7D7B-3D93-FC29-77BEED9C8946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237060-03AA-B4AD-B18B-C5DF70E1F112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1</a:t>
            </a:r>
            <a:endParaRPr lang="en-US" sz="245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F3C6B767-F53C-3D45-EDBD-2FC7D65E743D}"/>
              </a:ext>
            </a:extLst>
          </p:cNvPr>
          <p:cNvSpPr/>
          <p:nvPr/>
        </p:nvSpPr>
        <p:spPr>
          <a:xfrm>
            <a:off x="208777" y="1189532"/>
            <a:ext cx="2277604" cy="613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Data Types: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8D75357-501F-499A-7813-5F6586AB589B}"/>
              </a:ext>
            </a:extLst>
          </p:cNvPr>
          <p:cNvSpPr/>
          <p:nvPr/>
        </p:nvSpPr>
        <p:spPr>
          <a:xfrm>
            <a:off x="628954" y="2152297"/>
            <a:ext cx="2277604" cy="29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“Christian”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12324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13.14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True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CF21C1B-1DCC-C16D-D23B-2790B004DE2B}"/>
              </a:ext>
            </a:extLst>
          </p:cNvPr>
          <p:cNvSpPr/>
          <p:nvPr/>
        </p:nvSpPr>
        <p:spPr>
          <a:xfrm>
            <a:off x="3207054" y="2152297"/>
            <a:ext cx="2277604" cy="29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ct val="83000"/>
              </a:lnSpc>
              <a:buFontTx/>
              <a:buChar char="-"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String</a:t>
            </a: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Int</a:t>
            </a: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Float</a:t>
            </a: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endParaRPr lang="en-US" sz="3200" dirty="0">
              <a:solidFill>
                <a:srgbClr val="FBFBFB"/>
              </a:solidFill>
              <a:latin typeface="Spectral" pitchFamily="34" charset="0"/>
              <a:ea typeface="Spectral" pitchFamily="34" charset="-122"/>
              <a:cs typeface="Spectral" pitchFamily="34" charset="-120"/>
            </a:endParaRPr>
          </a:p>
          <a:p>
            <a:pPr marL="457200" indent="-457200" algn="l">
              <a:lnSpc>
                <a:spcPct val="83000"/>
              </a:lnSpc>
              <a:buFontTx/>
              <a:buChar char="-"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Boolean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A55B47E-FB52-AC6A-3B3B-F10CF1F0C272}"/>
              </a:ext>
            </a:extLst>
          </p:cNvPr>
          <p:cNvSpPr/>
          <p:nvPr/>
        </p:nvSpPr>
        <p:spPr>
          <a:xfrm>
            <a:off x="208777" y="5486858"/>
            <a:ext cx="11697878" cy="613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Importance of Data Types Conversion/ Manipulation  </a:t>
            </a:r>
          </a:p>
        </p:txBody>
      </p:sp>
    </p:spTree>
    <p:extLst>
      <p:ext uri="{BB962C8B-B14F-4D97-AF65-F5344CB8AC3E}">
        <p14:creationId xmlns:p14="http://schemas.microsoft.com/office/powerpoint/2010/main" val="16097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05FE-AEF9-488C-F817-8FFA7C08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F521EE-74E2-BC47-5F1F-071961177122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56F80F-41CA-4F8A-4E0A-21DC19ED6041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Recap from day one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C40FBE-1DF4-CFF3-6A9F-58C54DE0D83D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EDD18E-4CA3-938B-0549-BD0D30C47965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1</a:t>
            </a:r>
            <a:endParaRPr lang="en-US" sz="2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CC7AE-873F-8FFC-38D6-E5EA30B7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46" y="1346200"/>
            <a:ext cx="3958400" cy="4949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13249A-42A4-16B6-A5EC-CA763CD86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1" y="1346200"/>
            <a:ext cx="6992258" cy="2082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5431B7-88B4-1BBC-993D-59833B7F9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71" y="3624036"/>
            <a:ext cx="5660900" cy="2373003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48807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43" y="708620"/>
            <a:ext cx="1686280" cy="269875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/>
          <p:cNvSpPr/>
          <p:nvPr/>
        </p:nvSpPr>
        <p:spPr>
          <a:xfrm>
            <a:off x="797401" y="761901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0843" y="1042392"/>
            <a:ext cx="10810009" cy="52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Course Overview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690843" y="1810941"/>
            <a:ext cx="1141959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843" y="237321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2067" y="241443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250323" y="240967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F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Orientation &amp; Programming Fundamentals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68593" y="3538537"/>
            <a:ext cx="1883125" cy="269875"/>
          </a:xfrm>
          <a:prstGeom prst="roundRect">
            <a:avLst>
              <a:gd name="adj" fmla="val 22119"/>
            </a:avLst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6368593" y="3872309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58D990F8-8438-AE34-89D3-ECD8ACDC1820}"/>
              </a:ext>
            </a:extLst>
          </p:cNvPr>
          <p:cNvSpPr/>
          <p:nvPr/>
        </p:nvSpPr>
        <p:spPr>
          <a:xfrm>
            <a:off x="690843" y="3096170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04D3CE0-D8B9-5C29-4E9E-3B5489BC5547}"/>
              </a:ext>
            </a:extLst>
          </p:cNvPr>
          <p:cNvSpPr/>
          <p:nvPr/>
        </p:nvSpPr>
        <p:spPr>
          <a:xfrm>
            <a:off x="732067" y="3137396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2</a:t>
            </a:r>
            <a:endParaRPr lang="en-US" sz="24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136BBFA2-E6FE-1A17-B722-38C76AA38911}"/>
              </a:ext>
            </a:extLst>
          </p:cNvPr>
          <p:cNvSpPr/>
          <p:nvPr/>
        </p:nvSpPr>
        <p:spPr>
          <a:xfrm>
            <a:off x="1250323" y="3132633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Decision Logic, Loops &amp; Data Structures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A731EE0B-F0EC-6AA0-DB63-9BA0CC9B5A76}"/>
              </a:ext>
            </a:extLst>
          </p:cNvPr>
          <p:cNvSpPr/>
          <p:nvPr/>
        </p:nvSpPr>
        <p:spPr>
          <a:xfrm>
            <a:off x="690843" y="3856979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6D6CA42-2ED2-EEFB-B29A-B76023DD1690}"/>
              </a:ext>
            </a:extLst>
          </p:cNvPr>
          <p:cNvSpPr/>
          <p:nvPr/>
        </p:nvSpPr>
        <p:spPr>
          <a:xfrm>
            <a:off x="732067" y="3898205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</a:t>
            </a:r>
            <a:endParaRPr lang="en-US" sz="24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4592E26-D0B1-BAF6-B0D1-77BF4AF95E5B}"/>
              </a:ext>
            </a:extLst>
          </p:cNvPr>
          <p:cNvSpPr/>
          <p:nvPr/>
        </p:nvSpPr>
        <p:spPr>
          <a:xfrm>
            <a:off x="1250323" y="3893442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Functions, Strings &amp; Character Encoding</a:t>
            </a: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7DC73F64-2C5E-B57B-6441-4220F8285E0D}"/>
              </a:ext>
            </a:extLst>
          </p:cNvPr>
          <p:cNvSpPr/>
          <p:nvPr/>
        </p:nvSpPr>
        <p:spPr>
          <a:xfrm>
            <a:off x="6368593" y="4655938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87330629-0FF8-8E52-A4F4-C6AE2A3DD185}"/>
              </a:ext>
            </a:extLst>
          </p:cNvPr>
          <p:cNvSpPr/>
          <p:nvPr/>
        </p:nvSpPr>
        <p:spPr>
          <a:xfrm>
            <a:off x="690843" y="4640608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B1659343-CA5D-0805-890A-3D0238423158}"/>
              </a:ext>
            </a:extLst>
          </p:cNvPr>
          <p:cNvSpPr/>
          <p:nvPr/>
        </p:nvSpPr>
        <p:spPr>
          <a:xfrm>
            <a:off x="732067" y="4681834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</a:t>
            </a:r>
            <a:endParaRPr lang="en-US" sz="24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894191D-5451-D40A-2630-6CE79FEBFC41}"/>
              </a:ext>
            </a:extLst>
          </p:cNvPr>
          <p:cNvSpPr/>
          <p:nvPr/>
        </p:nvSpPr>
        <p:spPr>
          <a:xfrm>
            <a:off x="1250323" y="4677071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Encryption / Decryption Logic &amp; Program Integration</a:t>
            </a:r>
            <a:endParaRPr lang="en-US" sz="32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36040D8B-8A44-D863-CC93-4D09DBFEF49F}"/>
              </a:ext>
            </a:extLst>
          </p:cNvPr>
          <p:cNvSpPr/>
          <p:nvPr/>
        </p:nvSpPr>
        <p:spPr>
          <a:xfrm>
            <a:off x="6368593" y="5471564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D1825352-5B14-288C-5197-6C785DD58794}"/>
              </a:ext>
            </a:extLst>
          </p:cNvPr>
          <p:cNvSpPr/>
          <p:nvPr/>
        </p:nvSpPr>
        <p:spPr>
          <a:xfrm>
            <a:off x="690843" y="5456234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77416CC5-0373-7055-91D8-5FF77C5838F2}"/>
              </a:ext>
            </a:extLst>
          </p:cNvPr>
          <p:cNvSpPr/>
          <p:nvPr/>
        </p:nvSpPr>
        <p:spPr>
          <a:xfrm>
            <a:off x="732067" y="5497460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5</a:t>
            </a:r>
            <a:endParaRPr lang="en-US" sz="24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6B0A2EAF-E70B-C535-7E30-82629C391AFC}"/>
              </a:ext>
            </a:extLst>
          </p:cNvPr>
          <p:cNvSpPr/>
          <p:nvPr/>
        </p:nvSpPr>
        <p:spPr>
          <a:xfrm>
            <a:off x="1250323" y="5492697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Testing, Refinement, Demonstration &amp; Evaluation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FAED-D3F2-2B8E-CBE5-590F7307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23B75F-B207-53CF-E312-BD21185C776A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A60CB4-6023-28BB-6028-B8C24032D43F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Decision Logic, Loops &amp; Data Structures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DD52F9-24BF-D6BD-6476-89DD813A1163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55F1A5-DF87-6EAC-CFD2-25F27A224A1F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2</a:t>
            </a:r>
            <a:endParaRPr lang="en-US" sz="2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E073FA-8B2A-7135-11FD-F8B0A948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46" y="1346200"/>
            <a:ext cx="3958400" cy="4949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062BE4-D0B2-0D97-0B46-B881A2634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1" y="1346200"/>
            <a:ext cx="6992258" cy="2082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EDE817-1858-FEF2-A809-2A199BEE4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71" y="3624036"/>
            <a:ext cx="5660900" cy="2373003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23528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32D7-96DE-B439-C09C-C85B2CC1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B0956F-7FCA-DF4F-75EE-EDDCF6BE35AA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7342A1-CD4E-0999-8AC0-825303D3EDD5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Decision Logic, Loops &amp; Data Structures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D55302-8D03-0A47-7DDA-AB261E4B463C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680297-08A1-25EE-63E8-3FD36BE05E8D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2</a:t>
            </a:r>
            <a:endParaRPr lang="en-US" sz="245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55F8830E-1889-C3CF-5646-DAD136E294A8}"/>
              </a:ext>
            </a:extLst>
          </p:cNvPr>
          <p:cNvSpPr/>
          <p:nvPr/>
        </p:nvSpPr>
        <p:spPr>
          <a:xfrm>
            <a:off x="1105299" y="1251546"/>
            <a:ext cx="7083358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Conditional Statement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A36BA47-372C-DF0D-B1B9-AC62D814A107}"/>
              </a:ext>
            </a:extLst>
          </p:cNvPr>
          <p:cNvSpPr/>
          <p:nvPr/>
        </p:nvSpPr>
        <p:spPr>
          <a:xfrm>
            <a:off x="2033346" y="1969568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There are only two possible answer: 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427537-C124-D5DA-DFA9-234C35B7CEA3}"/>
              </a:ext>
            </a:extLst>
          </p:cNvPr>
          <p:cNvSpPr/>
          <p:nvPr/>
        </p:nvSpPr>
        <p:spPr>
          <a:xfrm>
            <a:off x="2033346" y="2583084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True/False</a:t>
            </a:r>
          </a:p>
        </p:txBody>
      </p:sp>
    </p:spTree>
    <p:extLst>
      <p:ext uri="{BB962C8B-B14F-4D97-AF65-F5344CB8AC3E}">
        <p14:creationId xmlns:p14="http://schemas.microsoft.com/office/powerpoint/2010/main" val="242598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211</Words>
  <Application>Microsoft Office PowerPoint</Application>
  <PresentationFormat>Widescreen</PresentationFormat>
  <Paragraphs>59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Lato</vt:lpstr>
      <vt:lpstr>Spectral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MAZDA 19</dc:creator>
  <cp:lastModifiedBy>MAZDA 19</cp:lastModifiedBy>
  <cp:revision>9</cp:revision>
  <dcterms:created xsi:type="dcterms:W3CDTF">2026-07-25T02:33:45Z</dcterms:created>
  <dcterms:modified xsi:type="dcterms:W3CDTF">2026-07-29T06:25:56Z</dcterms:modified>
</cp:coreProperties>
</file>